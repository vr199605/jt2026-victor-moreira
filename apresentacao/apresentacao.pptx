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87" d="100"/>
        <a:sy n="87" d="100"/>
      </p:scale>
      <p:origin x="-24" y="-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3BD48-C905-4E86-BE7D-BD8969A7D1F6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239A0-B2D0-41EB-B7EB-FE841C16DE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25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i="1" dirty="0"/>
              <a:t>Olá! Para a tese de investimento da </a:t>
            </a:r>
            <a:r>
              <a:rPr lang="pt-BR" i="1" dirty="0" err="1"/>
              <a:t>Seazone</a:t>
            </a:r>
            <a:r>
              <a:rPr lang="pt-BR" i="1" dirty="0"/>
              <a:t> em Itapema, nossa recomendação é a aquisição de </a:t>
            </a:r>
            <a:r>
              <a:rPr lang="pt-BR" b="1" i="1" dirty="0"/>
              <a:t>apartamentos compactos de 1 a 2 dormitórios com vaga de garagem</a:t>
            </a:r>
            <a:r>
              <a:rPr lang="pt-BR" i="1" dirty="0"/>
              <a:t>, priorizando os bairros </a:t>
            </a:r>
            <a:r>
              <a:rPr lang="pt-BR" b="1" i="1" dirty="0"/>
              <a:t>Centro e Meia Praia</a:t>
            </a:r>
            <a:r>
              <a:rPr lang="pt-BR" i="1" dirty="0"/>
              <a:t> na faixa de </a:t>
            </a:r>
            <a:r>
              <a:rPr lang="pt-BR" b="1" i="1" dirty="0"/>
              <a:t>R$ 700 mil a R$ 900 mil</a:t>
            </a:r>
            <a:r>
              <a:rPr lang="pt-BR" i="1" dirty="0"/>
              <a:t>.</a:t>
            </a:r>
            <a:endParaRPr lang="pt-BR" dirty="0"/>
          </a:p>
          <a:p>
            <a:pPr>
              <a:buNone/>
            </a:pPr>
            <a:r>
              <a:rPr lang="pt-BR" i="1" dirty="0"/>
              <a:t>Sobre a tese preliminar interna da </a:t>
            </a:r>
            <a:r>
              <a:rPr lang="pt-BR" i="1" dirty="0" err="1"/>
              <a:t>Seazone</a:t>
            </a:r>
            <a:r>
              <a:rPr lang="pt-BR" i="1" dirty="0"/>
              <a:t>: </a:t>
            </a:r>
            <a:r>
              <a:rPr lang="pt-BR" b="1" i="1" dirty="0"/>
              <a:t>os dados confirmam que compactos no Centro são os mais eficientes</a:t>
            </a:r>
            <a:r>
              <a:rPr lang="pt-BR" i="1" dirty="0"/>
              <a:t>. Eles entregam o maior retorno por metro quadrado da cidade (</a:t>
            </a:r>
            <a:r>
              <a:rPr lang="pt-BR" b="1" i="1" dirty="0"/>
              <a:t>~R$ 1.958/m²</a:t>
            </a:r>
            <a:r>
              <a:rPr lang="pt-BR" i="1" dirty="0"/>
              <a:t> ao ano) e o maior Gross </a:t>
            </a:r>
            <a:r>
              <a:rPr lang="pt-BR" i="1" dirty="0" err="1"/>
              <a:t>Yield</a:t>
            </a:r>
            <a:r>
              <a:rPr lang="pt-BR" i="1" dirty="0"/>
              <a:t> (</a:t>
            </a:r>
            <a:r>
              <a:rPr lang="pt-BR" b="1" i="1" dirty="0"/>
              <a:t>9,9%</a:t>
            </a:r>
            <a:r>
              <a:rPr lang="pt-BR" i="1" dirty="0"/>
              <a:t> contra </a:t>
            </a:r>
            <a:r>
              <a:rPr lang="pt-BR" b="1" i="1" dirty="0"/>
              <a:t>6,3%</a:t>
            </a:r>
            <a:r>
              <a:rPr lang="pt-BR" i="1" dirty="0"/>
              <a:t> de imóveis de 3 quartos). O ticket de compra menor (~R$ 890 mil) viabiliza um Net Cap Rate líquido de </a:t>
            </a:r>
            <a:r>
              <a:rPr lang="pt-BR" b="1" i="1" dirty="0"/>
              <a:t>7,4%</a:t>
            </a:r>
            <a:r>
              <a:rPr lang="pt-BR" i="1" dirty="0"/>
              <a:t>, mesmo considerando taxa de gestão e condomínio.</a:t>
            </a:r>
            <a:endParaRPr lang="pt-BR" dirty="0"/>
          </a:p>
          <a:p>
            <a:pPr>
              <a:buNone/>
            </a:pPr>
            <a:r>
              <a:rPr lang="pt-BR" i="1" dirty="0"/>
              <a:t>Para expansão em escala, </a:t>
            </a:r>
            <a:r>
              <a:rPr lang="pt-BR" b="1" i="1" dirty="0"/>
              <a:t>Meia Praia</a:t>
            </a:r>
            <a:r>
              <a:rPr lang="pt-BR" i="1" dirty="0"/>
              <a:t> entra como complemento estratégico com unidades de 2 quartos (</a:t>
            </a:r>
            <a:r>
              <a:rPr lang="pt-BR" i="1" dirty="0" err="1"/>
              <a:t>Yield</a:t>
            </a:r>
            <a:r>
              <a:rPr lang="pt-BR" i="1" dirty="0"/>
              <a:t> bruto de </a:t>
            </a:r>
            <a:r>
              <a:rPr lang="pt-BR" b="1" i="1" dirty="0"/>
              <a:t>9,6%</a:t>
            </a:r>
            <a:r>
              <a:rPr lang="pt-BR" i="1" dirty="0"/>
              <a:t>), capturando mais de 60% do fluxo turístico familiar da região com altíssima liquidez de revenda.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9A0-B2D0-41EB-B7EB-FE841C16DE9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871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i="1" dirty="0"/>
              <a:t>Olá! Para a tese de investimento da </a:t>
            </a:r>
            <a:r>
              <a:rPr lang="pt-BR" i="1" dirty="0" err="1"/>
              <a:t>Seazone</a:t>
            </a:r>
            <a:r>
              <a:rPr lang="pt-BR" i="1" dirty="0"/>
              <a:t> em Itapema, nossa recomendação é a aquisição de </a:t>
            </a:r>
            <a:r>
              <a:rPr lang="pt-BR" b="1" i="1" dirty="0"/>
              <a:t>apartamentos compactos de 1 a 2 dormitórios com vaga de garagem</a:t>
            </a:r>
            <a:r>
              <a:rPr lang="pt-BR" i="1" dirty="0"/>
              <a:t>, priorizando os bairros </a:t>
            </a:r>
            <a:r>
              <a:rPr lang="pt-BR" b="1" i="1" dirty="0"/>
              <a:t>Centro e Meia Praia</a:t>
            </a:r>
            <a:r>
              <a:rPr lang="pt-BR" i="1" dirty="0"/>
              <a:t> na faixa de </a:t>
            </a:r>
            <a:r>
              <a:rPr lang="pt-BR" b="1" i="1" dirty="0"/>
              <a:t>R$ 700 mil a R$ 900 mil</a:t>
            </a:r>
            <a:r>
              <a:rPr lang="pt-BR" i="1" dirty="0"/>
              <a:t>.</a:t>
            </a:r>
            <a:endParaRPr lang="pt-BR" dirty="0"/>
          </a:p>
          <a:p>
            <a:pPr>
              <a:buNone/>
            </a:pPr>
            <a:r>
              <a:rPr lang="pt-BR" i="1" dirty="0"/>
              <a:t>Sobre a tese preliminar interna da </a:t>
            </a:r>
            <a:r>
              <a:rPr lang="pt-BR" i="1" dirty="0" err="1"/>
              <a:t>Seazone</a:t>
            </a:r>
            <a:r>
              <a:rPr lang="pt-BR" i="1" dirty="0"/>
              <a:t>: </a:t>
            </a:r>
            <a:r>
              <a:rPr lang="pt-BR" b="1" i="1" dirty="0"/>
              <a:t>os dados confirmam que compactos no Centro são os mais eficientes</a:t>
            </a:r>
            <a:r>
              <a:rPr lang="pt-BR" i="1" dirty="0"/>
              <a:t>. Eles entregam o maior retorno por metro quadrado da cidade (</a:t>
            </a:r>
            <a:r>
              <a:rPr lang="pt-BR" b="1" i="1" dirty="0"/>
              <a:t>~R$ 1.958/m²</a:t>
            </a:r>
            <a:r>
              <a:rPr lang="pt-BR" i="1" dirty="0"/>
              <a:t> ao ano) e o maior Gross </a:t>
            </a:r>
            <a:r>
              <a:rPr lang="pt-BR" i="1" dirty="0" err="1"/>
              <a:t>Yield</a:t>
            </a:r>
            <a:r>
              <a:rPr lang="pt-BR" i="1" dirty="0"/>
              <a:t> (</a:t>
            </a:r>
            <a:r>
              <a:rPr lang="pt-BR" b="1" i="1" dirty="0"/>
              <a:t>9,9%</a:t>
            </a:r>
            <a:r>
              <a:rPr lang="pt-BR" i="1" dirty="0"/>
              <a:t> contra </a:t>
            </a:r>
            <a:r>
              <a:rPr lang="pt-BR" b="1" i="1" dirty="0"/>
              <a:t>6,3%</a:t>
            </a:r>
            <a:r>
              <a:rPr lang="pt-BR" i="1" dirty="0"/>
              <a:t> de imóveis de 3 quartos). O ticket de compra menor (~R$ 890 mil) viabiliza um Net Cap Rate líquido de </a:t>
            </a:r>
            <a:r>
              <a:rPr lang="pt-BR" b="1" i="1" dirty="0"/>
              <a:t>7,4%</a:t>
            </a:r>
            <a:r>
              <a:rPr lang="pt-BR" i="1" dirty="0"/>
              <a:t>, mesmo considerando taxa de gestão e condomínio.</a:t>
            </a:r>
            <a:endParaRPr lang="pt-BR" dirty="0"/>
          </a:p>
          <a:p>
            <a:pPr>
              <a:buNone/>
            </a:pPr>
            <a:r>
              <a:rPr lang="pt-BR" i="1" dirty="0"/>
              <a:t>Para expansão em escala, </a:t>
            </a:r>
            <a:r>
              <a:rPr lang="pt-BR" b="1" i="1" dirty="0"/>
              <a:t>Meia Praia</a:t>
            </a:r>
            <a:r>
              <a:rPr lang="pt-BR" i="1" dirty="0"/>
              <a:t> entra como complemento estratégico com unidades de 2 quartos (</a:t>
            </a:r>
            <a:r>
              <a:rPr lang="pt-BR" i="1" dirty="0" err="1"/>
              <a:t>Yield</a:t>
            </a:r>
            <a:r>
              <a:rPr lang="pt-BR" i="1" dirty="0"/>
              <a:t> bruto de </a:t>
            </a:r>
            <a:r>
              <a:rPr lang="pt-BR" b="1" i="1" dirty="0"/>
              <a:t>9,6%</a:t>
            </a:r>
            <a:r>
              <a:rPr lang="pt-BR" i="1" dirty="0"/>
              <a:t>), capturando mais de 60% do fluxo turístico familiar da região com altíssima liquidez de revenda.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9A0-B2D0-41EB-B7EB-FE841C16DE9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12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t-BR" i="1" dirty="0"/>
              <a:t>Olá! Para a tese de investimento da </a:t>
            </a:r>
            <a:r>
              <a:rPr lang="pt-BR" i="1" dirty="0" err="1"/>
              <a:t>Seazone</a:t>
            </a:r>
            <a:r>
              <a:rPr lang="pt-BR" i="1" dirty="0"/>
              <a:t> em Itapema, nossa recomendação é a aquisição de </a:t>
            </a:r>
            <a:r>
              <a:rPr lang="pt-BR" b="1" i="1" dirty="0"/>
              <a:t>apartamentos compactos de 1 a 2 dormitórios com vaga de garagem</a:t>
            </a:r>
            <a:r>
              <a:rPr lang="pt-BR" i="1" dirty="0"/>
              <a:t>, priorizando os bairros </a:t>
            </a:r>
            <a:r>
              <a:rPr lang="pt-BR" b="1" i="1" dirty="0"/>
              <a:t>Centro e Meia Praia</a:t>
            </a:r>
            <a:r>
              <a:rPr lang="pt-BR" i="1" dirty="0"/>
              <a:t> na faixa de </a:t>
            </a:r>
            <a:r>
              <a:rPr lang="pt-BR" b="1" i="1" dirty="0"/>
              <a:t>R$ 700 mil a R$ 900 mil</a:t>
            </a:r>
            <a:r>
              <a:rPr lang="pt-BR" i="1" dirty="0"/>
              <a:t>.</a:t>
            </a:r>
            <a:endParaRPr lang="pt-BR" dirty="0"/>
          </a:p>
          <a:p>
            <a:pPr>
              <a:buNone/>
            </a:pPr>
            <a:r>
              <a:rPr lang="pt-BR" i="1" dirty="0"/>
              <a:t>Sobre a tese preliminar interna da </a:t>
            </a:r>
            <a:r>
              <a:rPr lang="pt-BR" i="1" dirty="0" err="1"/>
              <a:t>Seazone</a:t>
            </a:r>
            <a:r>
              <a:rPr lang="pt-BR" i="1" dirty="0"/>
              <a:t>: </a:t>
            </a:r>
            <a:r>
              <a:rPr lang="pt-BR" b="1" i="1" dirty="0"/>
              <a:t>os dados confirmam que compactos no Centro são os mais eficientes</a:t>
            </a:r>
            <a:r>
              <a:rPr lang="pt-BR" i="1" dirty="0"/>
              <a:t>. Eles entregam o maior retorno por metro quadrado da cidade (</a:t>
            </a:r>
            <a:r>
              <a:rPr lang="pt-BR" b="1" i="1" dirty="0"/>
              <a:t>~R$ 1.958/m²</a:t>
            </a:r>
            <a:r>
              <a:rPr lang="pt-BR" i="1" dirty="0"/>
              <a:t> ao ano) e o maior Gross </a:t>
            </a:r>
            <a:r>
              <a:rPr lang="pt-BR" i="1" dirty="0" err="1"/>
              <a:t>Yield</a:t>
            </a:r>
            <a:r>
              <a:rPr lang="pt-BR" i="1" dirty="0"/>
              <a:t> (</a:t>
            </a:r>
            <a:r>
              <a:rPr lang="pt-BR" b="1" i="1" dirty="0"/>
              <a:t>9,9%</a:t>
            </a:r>
            <a:r>
              <a:rPr lang="pt-BR" i="1" dirty="0"/>
              <a:t> contra </a:t>
            </a:r>
            <a:r>
              <a:rPr lang="pt-BR" b="1" i="1" dirty="0"/>
              <a:t>6,3%</a:t>
            </a:r>
            <a:r>
              <a:rPr lang="pt-BR" i="1" dirty="0"/>
              <a:t> de imóveis de 3 quartos). O ticket de compra menor (~R$ 890 mil) viabiliza um Net Cap Rate líquido de </a:t>
            </a:r>
            <a:r>
              <a:rPr lang="pt-BR" b="1" i="1" dirty="0"/>
              <a:t>7,4%</a:t>
            </a:r>
            <a:r>
              <a:rPr lang="pt-BR" i="1" dirty="0"/>
              <a:t>, mesmo considerando taxa de gestão e condomínio.</a:t>
            </a:r>
            <a:endParaRPr lang="pt-BR" dirty="0"/>
          </a:p>
          <a:p>
            <a:pPr>
              <a:buNone/>
            </a:pPr>
            <a:r>
              <a:rPr lang="pt-BR" i="1" dirty="0"/>
              <a:t>Para expansão em escala, </a:t>
            </a:r>
            <a:r>
              <a:rPr lang="pt-BR" b="1" i="1" dirty="0"/>
              <a:t>Meia Praia</a:t>
            </a:r>
            <a:r>
              <a:rPr lang="pt-BR" i="1" dirty="0"/>
              <a:t> entra como complemento estratégico com unidades de 2 quartos (</a:t>
            </a:r>
            <a:r>
              <a:rPr lang="pt-BR" i="1" dirty="0" err="1"/>
              <a:t>Yield</a:t>
            </a:r>
            <a:r>
              <a:rPr lang="pt-BR" i="1" dirty="0"/>
              <a:t> bruto de </a:t>
            </a:r>
            <a:r>
              <a:rPr lang="pt-BR" b="1" i="1" dirty="0"/>
              <a:t>9,6%</a:t>
            </a:r>
            <a:r>
              <a:rPr lang="pt-BR" i="1" dirty="0"/>
              <a:t>), capturando mais de 60% do fluxo turístico familiar da região com altíssima liquidez de revenda.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9A0-B2D0-41EB-B7EB-FE841C16DE9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93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/>
              <a:t>O uso de IA foi o centro da nossa tomada de decisão. Não usamos o modelo apenas para gerar código, mas como um </a:t>
            </a:r>
            <a:r>
              <a:rPr lang="pt-BR" b="1" i="1" dirty="0"/>
              <a:t>auditor analítico e parceiro de negócios</a:t>
            </a:r>
            <a:r>
              <a:rPr lang="pt-BR" i="1" dirty="0"/>
              <a:t>.</a:t>
            </a:r>
            <a:endParaRPr lang="pt-BR" dirty="0"/>
          </a:p>
          <a:p>
            <a:r>
              <a:rPr lang="pt-BR" i="1" dirty="0"/>
              <a:t>Trabalhamos em iterações críticas: primeiro, usamos a IA para tratar dados imperfeitos, como coordenadas zeradas no </a:t>
            </a:r>
            <a:r>
              <a:rPr lang="pt-BR" i="1" dirty="0" err="1"/>
              <a:t>Airbnb</a:t>
            </a:r>
            <a:r>
              <a:rPr lang="pt-BR" i="1" dirty="0"/>
              <a:t> — que resolvemos com extração textual </a:t>
            </a:r>
            <a:r>
              <a:rPr lang="pt-BR" i="1" dirty="0" err="1"/>
              <a:t>regex</a:t>
            </a:r>
            <a:r>
              <a:rPr lang="pt-BR" i="1" dirty="0"/>
              <a:t> — e saneamento de áreas irreais no Viva Real.</a:t>
            </a:r>
            <a:endParaRPr lang="pt-BR" dirty="0"/>
          </a:p>
          <a:p>
            <a:r>
              <a:rPr lang="pt-BR" i="1" dirty="0"/>
              <a:t>Em seguida, </a:t>
            </a:r>
            <a:r>
              <a:rPr lang="pt-BR" b="1" i="1" dirty="0"/>
              <a:t>desafiamos a própria IA</a:t>
            </a:r>
            <a:r>
              <a:rPr lang="pt-BR" i="1" dirty="0"/>
              <a:t>: corrigimos premissas lineares de receita, modelando a sazonalidade real (alta vs. baixa estação) e aplicando assimetria de custos fixos de condomínio/IPTU para não inflar o Cap Rate dos compactos. Todo esse histórico de debate analítico está documentado na pasta </a:t>
            </a:r>
            <a:r>
              <a:rPr lang="pt-B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ai-log</a:t>
            </a:r>
            <a:r>
              <a:rPr lang="pt-B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pt-BR" i="1" dirty="0"/>
              <a:t>."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9A0-B2D0-41EB-B7EB-FE841C16DE9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102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/>
              <a:t>Com mais uma semana de desenvolvimento, avançaríamos em três frentes:</a:t>
            </a:r>
            <a:endParaRPr lang="pt-BR" dirty="0"/>
          </a:p>
          <a:p>
            <a:pPr lvl="0"/>
            <a:r>
              <a:rPr lang="pt-BR" i="1" dirty="0"/>
              <a:t>Modelagem preditiva de precificação dinâmica via Machine Learning com base em feriados e datas de alta demanda.</a:t>
            </a:r>
            <a:endParaRPr lang="pt-BR" dirty="0"/>
          </a:p>
          <a:p>
            <a:pPr lvl="0"/>
            <a:r>
              <a:rPr lang="pt-BR" i="1" dirty="0"/>
              <a:t>Enriquecimento geográfico calculando a distância euclidiana exata de cada imóvel até a faixa de areia para quantificar o prêmio da </a:t>
            </a:r>
            <a:r>
              <a:rPr lang="pt-BR" i="1" dirty="0" err="1"/>
              <a:t>quadra-mar</a:t>
            </a:r>
            <a:r>
              <a:rPr lang="pt-BR" i="1" dirty="0"/>
              <a:t>.</a:t>
            </a:r>
            <a:endParaRPr lang="pt-BR" dirty="0"/>
          </a:p>
          <a:p>
            <a:pPr lvl="0"/>
            <a:r>
              <a:rPr lang="pt-BR" i="1" dirty="0"/>
              <a:t>Integração com dados de novos lançamentos de construtoras em Itapema para monitorar o risco de sobreoferta de </a:t>
            </a:r>
            <a:r>
              <a:rPr lang="pt-BR" i="1" dirty="0" err="1"/>
              <a:t>studios</a:t>
            </a:r>
            <a:r>
              <a:rPr lang="pt-BR" i="1" dirty="0"/>
              <a:t> nos próximos 24 meses.</a:t>
            </a:r>
            <a:endParaRPr lang="pt-BR" dirty="0"/>
          </a:p>
          <a:p>
            <a:r>
              <a:rPr lang="pt-BR" i="1" dirty="0"/>
              <a:t>Com esses dados, o investimento em compactos em Itapema se torna altamente seguro, rentável e defensável. Obrigado!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9A0-B2D0-41EB-B7EB-FE841C16DE9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34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A68567-3D9F-D9CE-D624-DB8C3CBC8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A25943-64B1-3755-6B2B-AEF818E0D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AD892-E70E-E1E3-D5A3-56001B4F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C18C9-33AC-1A2D-D100-0176CE5D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CD9AD5-3A1C-E395-70F3-356CDA37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46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E1F59-081E-2B44-98C4-E732281F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E7079C-648B-E6DC-0884-7C1032108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1ACE19-DFAB-60AC-B7DF-4CAA31D3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320676-46C7-910A-1647-81AE0FE86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3CF320-4FE8-5C65-8F70-8CCED627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737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751D5-BB97-8601-5DC1-F1A99F3D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A63BC4-B140-DEFC-FB6A-96E6600B6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FE2903-7E4F-3FBD-4BFC-A841D973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F15B7B-1242-163B-3FFB-E0F4CBE4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869CE-E186-F213-279B-A53CA0F8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302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F39A3-5B3A-76F4-DA73-38F3A5D15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9DACCF-A23E-4232-0DBB-9894232F1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68D843-E5AB-1E37-90BB-100750ADF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95926B-1B79-762D-5042-A2695539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143F53-C944-7D6D-5CCE-567F77E8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641534-1B34-C9B6-D019-34B3B3CA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9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E8952-178C-AD69-08DA-4A1B972E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26FCB2-E160-6B0F-A383-142F9121B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86FCAC-A931-92D2-1803-E8041887E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437AAC-7C20-AF3F-01DB-B033E3696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B7DA60-3E8A-DF9C-54C1-CAABF19B3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CC57F1-9295-D246-D824-E7601B6A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2D492D9-8581-C01C-BB0A-657272AC1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DFF8D0-F705-0CBB-33B7-C0F558B0A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58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02654-92DF-F8A9-31B1-ACD04141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45EF6B-73BA-CF2C-6F0D-DC0B81AD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DD5A9A-0658-0A0E-E99D-4727B14C9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2D38C0-F591-A711-96C1-4545AA75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64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D8A94D-866A-742B-49F2-5166ED93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E02FFC-8928-3B2C-0DCE-6ADF7CF2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65F4B6-90D8-7B49-AFA1-37941186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57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DC766-B6B8-8372-9C6E-7FEDDB06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8D0A8-8B67-8238-2904-CA1435790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66D02B-55D8-1060-4B50-4C1C2E2A6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D76C9B-2716-4DAF-35FE-6B51D84E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7FC60C-47C2-84C4-E46A-24927A11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3B7F9E-4B99-B40E-09DA-11171FA6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6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09A2-C32B-6D13-26D5-3EB4E38D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2A5766-857E-FED4-7AD8-18A9B27FD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645BC9-8C64-38C9-A0EC-A1ACAC321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C27A11-43D8-7BBF-C657-A0593200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2E71FA-EF5B-C7ED-D529-2B22B147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C461A6-DAFA-24A8-5BD8-3486C8F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12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DE257-98FE-A437-DDA4-FC247B72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0B46D4-FD3E-EDE3-58B2-5CF54B1E7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9A9EED-CF3E-E988-9763-192995F1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F72F35-38CF-356B-7B32-2D612168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2F972F-AD90-C3CB-2F6B-693A5E5C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479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905985-DA25-25F3-EE99-01C80E2F2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4F1DFF-0284-5D20-CDA7-765C603AC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65A09-AE63-128B-0DF4-9A39AF4A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1108D-40DC-869E-3AAA-21661E35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648254-0B68-9D35-9B32-806D9280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44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02D43B-5F2B-6B02-DC1B-DF0258D54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CEB6F0-4D15-CE6E-724D-F15029A68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C11A5D-ABF4-9DE8-6A44-BAC87DBD6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06CE7-D254-4ADF-8C49-78A14696CE7C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ECEA8B-FA50-B747-AB23-506B12E28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EB5751-3A16-98F5-4E68-F7F1292EE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E189C-6AE8-4172-8E0B-0B54BFB22D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152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12064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SEAZONE  /  SHORT STAY &amp; REAL ESTATE 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7086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4400" b="1">
                <a:solidFill>
                  <a:srgbClr val="FFFFFF"/>
                </a:solidFill>
                <a:latin typeface="Segoe UI"/>
              </a:rPr>
              <a:t>Tese de Investimento
Imobiliário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054096"/>
            <a:ext cx="5760720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38BDF8"/>
                </a:solidFill>
                <a:latin typeface="Segoe UI"/>
              </a:rPr>
              <a:t>ITAPEMA  ·  SANTA CATARINA</a:t>
            </a:r>
            <a:endParaRPr lang="pt-BR" sz="1800" b="1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656" y="5431536"/>
            <a:ext cx="103784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Hackathon Jovens Talentos AI Builder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843016"/>
            <a:ext cx="10378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8BDF8"/>
                </a:solidFill>
                <a:latin typeface="Segoe UI"/>
              </a:rPr>
              <a:t>Recomendação executiva baseada em dados 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4784" y="493776"/>
            <a:ext cx="658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335024"/>
            <a:ext cx="28346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8200" b="1">
                <a:solidFill>
                  <a:srgbClr val="1E293B"/>
                </a:solidFill>
                <a:latin typeface="Segoe UI"/>
              </a:rPr>
              <a:t>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852928"/>
            <a:ext cx="22677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REAL ESTATE 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81944" y="1243584"/>
            <a:ext cx="32004" cy="3566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49640" y="4782312"/>
            <a:ext cx="2459736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4937760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ITAPEMA  /  2026</a:t>
            </a:r>
          </a:p>
        </p:txBody>
      </p:sp>
    </p:spTree>
    <p:extLst>
      <p:ext uri="{BB962C8B-B14F-4D97-AF65-F5344CB8AC3E}">
        <p14:creationId xmlns:p14="http://schemas.microsoft.com/office/powerpoint/2010/main" val="218146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4206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"/>
            <a:ext cx="10332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Recomendação de Compra &amp; Tese dos Compactos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877824"/>
            <a:ext cx="10936224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6464808"/>
            <a:ext cx="530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5384" y="1188720"/>
            <a:ext cx="10972" cy="4160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64424" y="1188720"/>
            <a:ext cx="10972" cy="4160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ATIVO RECOMENDADO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1 a 2
quartos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3182112" cy="512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Centro e Meia Praia
com vaga de garagem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56432"/>
            <a:ext cx="530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648456"/>
            <a:ext cx="3182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64748B"/>
                </a:solidFill>
                <a:latin typeface="Segoe UI"/>
              </a:rPr>
              <a:t>FAIXA DE COMPRA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318211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8BDF8"/>
                </a:solidFill>
                <a:latin typeface="Segoe UI"/>
              </a:rPr>
              <a:t>R$ 700k–900k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18872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EFICIÊNCIA DE CAPITAL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627632"/>
            <a:ext cx="3246120" cy="601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3800" b="1">
                <a:solidFill>
                  <a:srgbClr val="38BDF8"/>
                </a:solidFill>
                <a:latin typeface="Segoe UI"/>
              </a:rPr>
              <a:t>R$ 1.958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03120"/>
            <a:ext cx="32461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/m²/ano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633472"/>
            <a:ext cx="3154680" cy="512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vs. R$ 1.029/m² em unidades de 3 quartos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456432"/>
            <a:ext cx="530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3666744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A tese se sustenta com
alta eficiência de capital.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188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RETORNO PROJETADO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1627632"/>
            <a:ext cx="3154680" cy="63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4000" b="1">
                <a:solidFill>
                  <a:srgbClr val="38BDF8"/>
                </a:solidFill>
                <a:latin typeface="Segoe UI"/>
              </a:rPr>
              <a:t>9,90%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21031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64748B"/>
                </a:solidFill>
                <a:latin typeface="Segoe UI"/>
              </a:rPr>
              <a:t>GROSS YIELD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2633472"/>
            <a:ext cx="3154680" cy="538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3400" b="1">
                <a:solidFill>
                  <a:srgbClr val="0F172A"/>
                </a:solidFill>
                <a:latin typeface="Segoe UI"/>
              </a:rPr>
              <a:t>7,43%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06324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64748B"/>
                </a:solidFill>
                <a:latin typeface="Segoe UI"/>
              </a:rPr>
              <a:t>NET CAP RATE · CENTRO 1Q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7304" y="3456432"/>
            <a:ext cx="530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47304" y="3666744"/>
            <a:ext cx="31546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64748B"/>
                </a:solidFill>
                <a:latin typeface="Segoe UI"/>
              </a:rPr>
              <a:t>ESCALA COMPLEMENTAR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4023360"/>
            <a:ext cx="3154680" cy="474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3000" b="1">
                <a:solidFill>
                  <a:srgbClr val="38BDF8"/>
                </a:solidFill>
                <a:latin typeface="Segoe UI"/>
              </a:rPr>
              <a:t>9,56%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4489704"/>
            <a:ext cx="3154680" cy="512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Yield em 2 quartos, Meia Praia — absorve a demanda familiar.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50992"/>
            <a:ext cx="64008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5641848"/>
            <a:ext cx="10469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Compactos concentram a melhor combinação de eficiência por m², retorno e escala.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09360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Fonte: análise do projeto e premissas da base fornecida.</a:t>
            </a:r>
          </a:p>
        </p:txBody>
      </p:sp>
    </p:spTree>
    <p:extLst>
      <p:ext uri="{BB962C8B-B14F-4D97-AF65-F5344CB8AC3E}">
        <p14:creationId xmlns:p14="http://schemas.microsoft.com/office/powerpoint/2010/main" val="1841722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4206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"/>
            <a:ext cx="10332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Racional Financeiro e Drivers de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877824"/>
            <a:ext cx="10936224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6464808"/>
            <a:ext cx="530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CAP RATE POR TIPOLOGIA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3063240" cy="17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pt-BR" sz="1100" b="1">
                <a:solidFill>
                  <a:srgbClr val="38BDF8"/>
                </a:solidFill>
                <a:latin typeface="Segoe UI"/>
              </a:rPr>
              <a:t>1 QUARTO  ·  TESE PRIORITÁRIA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82496"/>
            <a:ext cx="324612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0">
                <a:solidFill>
                  <a:srgbClr val="334155"/>
                </a:solidFill>
                <a:latin typeface="Segoe UI"/>
              </a:rPr>
              <a:t>Centro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66543"/>
            <a:ext cx="3246120" cy="601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3800" b="1">
                <a:solidFill>
                  <a:srgbClr val="38BDF8"/>
                </a:solidFill>
                <a:latin typeface="Segoe UI"/>
              </a:rPr>
              <a:t>9,9%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4203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GROSS YIELD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R$ 890k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9" y="29077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ADR R$ 483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172A"/>
                </a:solidFill>
                <a:latin typeface="Segoe UI"/>
              </a:rPr>
              <a:t>NET 7,4%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1417320"/>
            <a:ext cx="10972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5112" y="141732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2 QUARTOS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682496"/>
            <a:ext cx="324612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0">
                <a:solidFill>
                  <a:srgbClr val="334155"/>
                </a:solidFill>
                <a:latin typeface="Segoe UI"/>
              </a:rPr>
              <a:t>Meia Praia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066543"/>
            <a:ext cx="3246120" cy="569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3600" b="1">
                <a:solidFill>
                  <a:srgbClr val="38BDF8"/>
                </a:solidFill>
                <a:latin typeface="Segoe UI"/>
              </a:rPr>
              <a:t>9,6%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54203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GROSS YIELD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90779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R$ 1,06M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29077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ADR R$ 558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333756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F172A"/>
                </a:solidFill>
                <a:latin typeface="Segoe UI"/>
              </a:rPr>
              <a:t>NET 7,2%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417320"/>
            <a:ext cx="10972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0144" y="141732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3 QUARTOS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682496"/>
            <a:ext cx="324612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0">
                <a:solidFill>
                  <a:srgbClr val="334155"/>
                </a:solidFill>
                <a:latin typeface="Segoe UI"/>
              </a:rPr>
              <a:t>Geral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066543"/>
            <a:ext cx="3246120" cy="538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3400" b="1">
                <a:solidFill>
                  <a:srgbClr val="0F172A"/>
                </a:solidFill>
                <a:latin typeface="Segoe UI"/>
              </a:rPr>
              <a:t>6,3%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0144" y="254203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4748B"/>
                </a:solidFill>
                <a:latin typeface="Segoe UI"/>
              </a:rPr>
              <a:t>GROSS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290779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R$ 1,88M+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29077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ADR R$ 708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3337560"/>
            <a:ext cx="3246120" cy="189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200" b="1">
                <a:solidFill>
                  <a:srgbClr val="64748B"/>
                </a:solidFill>
                <a:latin typeface="Segoe UI"/>
              </a:rPr>
              <a:t>RETORNO COMPRIMIDO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14800"/>
            <a:ext cx="10899648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34340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DRIVERS DE ADR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731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38BDF8"/>
                </a:solidFill>
                <a:latin typeface="Segoe UI"/>
              </a:rPr>
              <a:t>+22%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175504"/>
            <a:ext cx="205740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1">
                <a:solidFill>
                  <a:srgbClr val="0F172A"/>
                </a:solidFill>
                <a:latin typeface="Segoe UI"/>
              </a:rPr>
              <a:t>Vista 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71216" y="4773168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38BDF8"/>
                </a:solidFill>
                <a:latin typeface="Segoe UI"/>
              </a:rPr>
              <a:t>+12%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1216" y="5175504"/>
            <a:ext cx="2057400" cy="479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Churrasqueira
na sacada</a:t>
            </a:r>
            <a:endParaRPr lang="pt-BR" sz="1450" b="1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02352" y="4773168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Segoe UI"/>
              </a:rPr>
              <a:t>ESSENCIAL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2352" y="5175504"/>
            <a:ext cx="219456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1">
                <a:solidFill>
                  <a:srgbClr val="0F172A"/>
                </a:solidFill>
                <a:latin typeface="Segoe UI"/>
              </a:rPr>
              <a:t>Vaga de garagem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4434840"/>
            <a:ext cx="10972" cy="12984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36992" y="434340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EFEITO SUPERHOST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4736592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100" b="1">
                <a:solidFill>
                  <a:srgbClr val="38BDF8"/>
                </a:solidFill>
                <a:latin typeface="Segoe UI"/>
              </a:rPr>
              <a:t>3,7×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4736592"/>
            <a:ext cx="2148840" cy="495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1">
                <a:solidFill>
                  <a:srgbClr val="0F172A"/>
                </a:solidFill>
                <a:latin typeface="Segoe UI"/>
              </a:rPr>
              <a:t>mais avaliações acumuladas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5358384"/>
            <a:ext cx="3246120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00" b="0">
                <a:solidFill>
                  <a:srgbClr val="334155"/>
                </a:solidFill>
                <a:latin typeface="Segoe UI"/>
              </a:rPr>
              <a:t>Reduz o custo de aquisição (CAC).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389888"/>
            <a:ext cx="54864" cy="22677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" y="5833872"/>
            <a:ext cx="64008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9536" y="5824728"/>
            <a:ext cx="10469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Compactos preservam o retorno; unidades de 3 quartos comprimem o yield.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309360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Fonte: análise do projeto e premissas da base fornecida.</a:t>
            </a:r>
          </a:p>
        </p:txBody>
      </p:sp>
    </p:spTree>
    <p:extLst>
      <p:ext uri="{BB962C8B-B14F-4D97-AF65-F5344CB8AC3E}">
        <p14:creationId xmlns:p14="http://schemas.microsoft.com/office/powerpoint/2010/main" val="179058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4206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"/>
            <a:ext cx="10332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Como Usamos a IA como Copiloto Crítico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877824"/>
            <a:ext cx="10936224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6464808"/>
            <a:ext cx="530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PIPELINE DE PROMPT ESTRUTURADO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56231"/>
            <a:ext cx="2331720" cy="30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900" b="1">
                <a:solidFill>
                  <a:srgbClr val="0F172A"/>
                </a:solidFill>
                <a:latin typeface="Segoe UI"/>
              </a:rPr>
              <a:t>LIMPEZA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95728"/>
            <a:ext cx="239572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35808" y="1819656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48132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856231"/>
            <a:ext cx="2331720" cy="30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900" b="1">
                <a:solidFill>
                  <a:srgbClr val="0F172A"/>
                </a:solidFill>
                <a:latin typeface="Segoe UI"/>
              </a:rPr>
              <a:t>YIELD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2395728"/>
            <a:ext cx="239572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7296" y="1819656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48132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56231"/>
            <a:ext cx="2331720" cy="30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900" b="1">
                <a:solidFill>
                  <a:srgbClr val="0F172A"/>
                </a:solidFill>
                <a:latin typeface="Segoe UI"/>
              </a:rPr>
              <a:t>STRESS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2395728"/>
            <a:ext cx="239572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1819656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148132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8BDF8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1856231"/>
            <a:ext cx="2331720" cy="300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900" b="1">
                <a:solidFill>
                  <a:srgbClr val="0F172A"/>
                </a:solidFill>
                <a:latin typeface="Segoe UI"/>
              </a:rPr>
              <a:t>SÍNTESE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4544" y="2395728"/>
            <a:ext cx="239572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907792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SANEAMENTO INTELIGENTE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28416"/>
            <a:ext cx="5074920" cy="512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Extração regex de bairros para superar coordenadas zeradas e aplicação de filtros de IQR.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6752" y="2798064"/>
            <a:ext cx="10972" cy="21671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2907792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PREMISSAS DESAFIADAS · AI-LOG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310128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01  SAZONALIDADE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639312"/>
            <a:ext cx="4937760" cy="512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Base jan–abr ajustada para evitar superestimação da ocupação anual.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4315968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02  CUSTOS FIXOS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626864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Condomínio e IPTU ponderados no Net Yield dos compactos.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21808"/>
            <a:ext cx="10899648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614416"/>
            <a:ext cx="1417320" cy="17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RESULTADO</a:t>
            </a:r>
            <a:endParaRPr lang="pt-BR" sz="1100" b="1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38528" y="5504688"/>
            <a:ext cx="9253728" cy="316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2000" b="1">
                <a:solidFill>
                  <a:srgbClr val="0F172A"/>
                </a:solidFill>
                <a:latin typeface="Segoe UI"/>
              </a:rPr>
              <a:t>Análise defensável, sem “alucinações” e com rigor de mercado.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09360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Fonte: pipeline, premissas e registros de AI-log descritos no projeto.</a:t>
            </a:r>
          </a:p>
        </p:txBody>
      </p:sp>
    </p:spTree>
    <p:extLst>
      <p:ext uri="{BB962C8B-B14F-4D97-AF65-F5344CB8AC3E}">
        <p14:creationId xmlns:p14="http://schemas.microsoft.com/office/powerpoint/2010/main" val="196425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4206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8BDF8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9184"/>
            <a:ext cx="10332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Segoe UI"/>
              </a:rPr>
              <a:t>O Que Faríamos com +1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877824"/>
            <a:ext cx="10936224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18520" y="6464808"/>
            <a:ext cx="5303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4748B"/>
                </a:solidFill>
                <a:latin typeface="Segoe UI"/>
              </a:rPr>
              <a:t>PRÓXIMAS PRIORIDADES DE ANÁLISE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8BDF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3218688" cy="727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2200" b="1">
                <a:solidFill>
                  <a:srgbClr val="0F172A"/>
                </a:solidFill>
                <a:latin typeface="Segoe UI"/>
              </a:rPr>
              <a:t>Precificação dinâmica
preditiva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35808"/>
            <a:ext cx="530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64992"/>
            <a:ext cx="3218688" cy="7796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Modelo de Machine Learning para prever ADR em feriados e eventos específicos.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3218688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ADR por evento</a:t>
            </a:r>
            <a:endParaRPr lang="pt-BR" sz="1500" b="1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0" y="1389888"/>
            <a:ext cx="10972" cy="40416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138988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8BDF8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1993392"/>
            <a:ext cx="3218688" cy="727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2200" b="1">
                <a:solidFill>
                  <a:srgbClr val="0F172A"/>
                </a:solidFill>
                <a:latin typeface="Segoe UI"/>
              </a:rPr>
              <a:t>Granularidade espacial
avançada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3035808"/>
            <a:ext cx="530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3364992"/>
            <a:ext cx="3218688" cy="7796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Distância euclidiana até a faixa de areia para precificar o efeito quadra-mar.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5029200"/>
            <a:ext cx="3218688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Efeito quadra-mar</a:t>
            </a:r>
            <a:endParaRPr lang="pt-BR" sz="1500" b="1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45552" y="1389888"/>
            <a:ext cx="10972" cy="40416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01583" y="138988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8BDF8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1993392"/>
            <a:ext cx="3218688" cy="727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2200" b="1">
                <a:solidFill>
                  <a:srgbClr val="0F172A"/>
                </a:solidFill>
                <a:latin typeface="Segoe UI"/>
              </a:rPr>
              <a:t>Monitoramento de
oferta futura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3" y="3035808"/>
            <a:ext cx="530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1583" y="3364992"/>
            <a:ext cx="3218688" cy="7796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pt-BR" sz="1550" b="0">
                <a:solidFill>
                  <a:srgbClr val="334155"/>
                </a:solidFill>
                <a:latin typeface="Segoe UI"/>
              </a:rPr>
              <a:t>Raspagem de alvarás e lançamentos para mapear risco de saturação de studios.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029200"/>
            <a:ext cx="3218688" cy="23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Risco de saturação</a:t>
            </a:r>
            <a:endParaRPr lang="pt-BR" sz="1500" b="1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38BDF8"/>
                </a:solidFill>
                <a:latin typeface="Segoe UI"/>
              </a:rPr>
              <a:t>RESULTADO ESPERADO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70916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38BDF8"/>
                </a:solidFill>
                <a:latin typeface="Segoe UI"/>
              </a:rPr>
              <a:t>RESULTADO ESPERADO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470916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38BDF8"/>
                </a:solidFill>
                <a:latin typeface="Segoe UI"/>
              </a:rPr>
              <a:t>RESULTADO ESPERADO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797296"/>
            <a:ext cx="64008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5788152"/>
            <a:ext cx="10469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Próxima decisão: integrar preço, localização e risco de oferta em um único modelo.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09360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64748B"/>
                </a:solidFill>
                <a:latin typeface="Segoe UI"/>
              </a:rPr>
              <a:t>Fonte: análise do projeto e premissas da base fornecida.</a:t>
            </a:r>
          </a:p>
        </p:txBody>
      </p:sp>
    </p:spTree>
    <p:extLst>
      <p:ext uri="{BB962C8B-B14F-4D97-AF65-F5344CB8AC3E}">
        <p14:creationId xmlns:p14="http://schemas.microsoft.com/office/powerpoint/2010/main" val="4200201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1239</Words>
  <Application>Microsoft Office PowerPoint</Application>
  <PresentationFormat>Personalizar</PresentationFormat>
  <Paragraphs>138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Moreira</dc:creator>
  <cp:lastModifiedBy>Victor Moreira</cp:lastModifiedBy>
  <cp:revision>4</cp:revision>
  <dcterms:created xsi:type="dcterms:W3CDTF">2026-08-27T13:17:14Z</dcterms:created>
  <dcterms:modified xsi:type="dcterms:W3CDTF">2026-08-27T14:26:40Z</dcterms:modified>
</cp:coreProperties>
</file>